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83" r:id="rId2"/>
    <p:sldId id="257" r:id="rId3"/>
    <p:sldId id="282" r:id="rId4"/>
    <p:sldId id="259" r:id="rId5"/>
    <p:sldId id="287" r:id="rId6"/>
    <p:sldId id="288" r:id="rId7"/>
    <p:sldId id="278" r:id="rId8"/>
    <p:sldId id="292" r:id="rId9"/>
    <p:sldId id="273" r:id="rId10"/>
    <p:sldId id="290" r:id="rId11"/>
    <p:sldId id="281" r:id="rId12"/>
    <p:sldId id="294" r:id="rId13"/>
    <p:sldId id="262" r:id="rId14"/>
    <p:sldId id="297" r:id="rId15"/>
    <p:sldId id="298" r:id="rId16"/>
    <p:sldId id="279" r:id="rId17"/>
    <p:sldId id="295" r:id="rId18"/>
    <p:sldId id="296" r:id="rId19"/>
    <p:sldId id="293" r:id="rId20"/>
    <p:sldId id="291" r:id="rId21"/>
    <p:sldId id="280" r:id="rId22"/>
    <p:sldId id="289" r:id="rId23"/>
    <p:sldId id="276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6493C2-F961-AE6C-C78A-A3E397BAC3D1}" v="77" dt="2026-01-24T07:12:45.064"/>
    <p1510:client id="{857E11F3-F11C-6843-C73E-27677A40A984}" v="240" dt="2026-01-24T07:27:37.625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9" autoAdjust="0"/>
  </p:normalViewPr>
  <p:slideViewPr>
    <p:cSldViewPr snapToGrid="0">
      <p:cViewPr>
        <p:scale>
          <a:sx n="75" d="100"/>
          <a:sy n="75" d="100"/>
        </p:scale>
        <p:origin x="946" y="3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6469429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5005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813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7EF10545-1A46-607A-9459-61E8362F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5957A8EB-ADFD-B035-BD54-1E8A3CB36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20716EB-D155-31F5-DA5A-E1CD60F5E9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5538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F166C2B5-4668-A97F-2B37-43C42F22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1DCE13D3-CED5-0A42-C57E-C51AFD2A62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05A17E4-5523-52B1-27CC-3C3485618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4404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81485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77982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80944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0EA04D40-BB11-6C0A-00CD-C04F1C1F2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2D9D8918-4664-95F9-D977-BC9AD92154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CAF177F5-3AA4-28D2-0775-CD2A1F583B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7597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F74104C-BC2F-B4F9-F40A-BFCD06369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65A4AA60-3C00-5D86-A2F0-93E4017458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B333D34B-6A47-E51C-ED65-B6ABE796D6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52176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9F52D6C0-A22A-B7A5-57E4-3B86A08F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293EEE26-A9A2-951D-2B16-B6BEF09DB9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82111D-254C-BD8C-FA23-1AD3B52CA2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9473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D11883E0-500E-7E40-8031-B1313E0DA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35604882-DC68-CFBF-2FB6-BA5F483DC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F88AD4A4-3AE4-7066-88C4-E1F25249C2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3454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AF421AB5-C8B9-103C-00CD-4845CDDB8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02B8E18B-B5B1-AC89-9D48-66D344E302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53B035D6-8279-E45C-02BF-7D1063481F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42076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5F81AA1-D470-94B2-DBAC-B3997B8A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BF3C5CFF-BD30-3A5C-BD37-8285A5CF24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D3D9FE95-01C0-4EF5-0973-1DCBDDB3C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25096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180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6" r:id="rId6"/>
    <p:sldLayoutId id="2147483657" r:id="rId7"/>
    <p:sldLayoutId id="2147483658" r:id="rId8"/>
    <p:sldLayoutId id="214748365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andeep5shetty/langflow-medication-agent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285" y="1723735"/>
            <a:ext cx="8901430" cy="1292937"/>
          </a:xfrm>
        </p:spPr>
        <p:txBody>
          <a:bodyPr>
            <a:normAutofit/>
          </a:bodyPr>
          <a:lstStyle/>
          <a:p>
            <a:pPr algn="ctr"/>
            <a:r>
              <a:rPr lang="en-US" sz="4000" b="1" i="1" dirty="0"/>
              <a:t>Explainable Multi-Agent System for Early Detection of Medication Non-Adherence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0813B-BF9E-B61A-92D0-FA37C9906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2AFBCE-D6E1-8CC1-58C4-6DA4BF5FC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07565" y="3745412"/>
            <a:ext cx="7976870" cy="1471993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 explainable multi-agent AI system that combines ML model with LLM agents to detect early medication non-adherence and predict patient risk for proactive intervention.</a:t>
            </a:r>
            <a:endParaRPr lang="en-IN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2437657" y="661787"/>
            <a:ext cx="7301728" cy="271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 of the team:  </a:t>
            </a:r>
            <a:r>
              <a:rPr lang="en-US" sz="3500" b="1" dirty="0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Care3 AI</a:t>
            </a:r>
            <a:r>
              <a:rPr lang="en-US" sz="35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/>
          </a:p>
        </p:txBody>
      </p:sp>
      <p:sp>
        <p:nvSpPr>
          <p:cNvPr id="95" name="Google Shape;95;p2"/>
          <p:cNvSpPr txBox="1"/>
          <p:nvPr/>
        </p:nvSpPr>
        <p:spPr>
          <a:xfrm>
            <a:off x="2382797" y="1101273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r>
              <a:rPr lang="en-US" sz="32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Details of Team </a:t>
            </a:r>
            <a:r>
              <a:rPr lang="en-US" sz="3200" b="1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</a:t>
            </a:r>
            <a:r>
              <a:rPr lang="en-US" sz="32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embers</a:t>
            </a: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601382084"/>
              </p:ext>
            </p:extLst>
          </p:nvPr>
        </p:nvGraphicFramePr>
        <p:xfrm>
          <a:off x="2474995" y="1720972"/>
          <a:ext cx="7227052" cy="4475242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1806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67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6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6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1988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TEAM MEMBER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Email ID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number</a:t>
                      </a:r>
                      <a:endParaRPr sz="14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[WhatsApp] 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912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Sandeepa N R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sandeepanr.mca25@bmsce.ac.in</a:t>
                      </a:r>
                      <a:endParaRPr sz="1400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6362030415</a:t>
                      </a:r>
                      <a:endParaRPr sz="1400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311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Shrilaxmi H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shrilaxmi.mca25@bmsce.ac.in</a:t>
                      </a:r>
                      <a:endParaRPr sz="1400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9945411015</a:t>
                      </a:r>
                      <a:endParaRPr sz="1400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311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dirty="0"/>
                        <a:t>Tanish G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tanishg.mca25@bmsce.ac.in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91450" marR="91450" marT="45725" marB="45725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7019173230</a:t>
                      </a:r>
                      <a:endParaRPr sz="1400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045765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3071BE8-5070-42BA-3450-6F0039B85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804672" y="1188720"/>
            <a:ext cx="761695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Challenge</a:t>
            </a:r>
            <a:endParaRPr lang="en-IN" b="1" dirty="0"/>
          </a:p>
          <a:p>
            <a:r>
              <a:rPr lang="en-US" dirty="0"/>
              <a:t>Medication of non-adherence is a major challenge in chronic disease management, often leading to poor health outcomes and increased hospitalizations. Healthcare providers lack continuous visibility in patient medication adherence patterns. There is a need for an assistive AI system that can analyze adherence data and identify patients at risk of non-compliance.</a:t>
            </a:r>
          </a:p>
          <a:p>
            <a:endParaRPr lang="en-IN" dirty="0"/>
          </a:p>
          <a:p>
            <a:r>
              <a:rPr lang="en-US" b="1" dirty="0"/>
              <a:t>Medication Data Analysis Agent</a:t>
            </a:r>
            <a:endParaRPr lang="en-IN" b="1" dirty="0"/>
          </a:p>
          <a:p>
            <a:r>
              <a:rPr lang="en-US" dirty="0"/>
              <a:t>An agent that analyzes medication intake logs, refill history, and missed-dose patterns.</a:t>
            </a:r>
          </a:p>
          <a:p>
            <a:endParaRPr lang="en-IN" dirty="0"/>
          </a:p>
          <a:p>
            <a:r>
              <a:rPr lang="en-US" b="1" dirty="0"/>
              <a:t>Adherence Risk Detection Agent</a:t>
            </a:r>
            <a:endParaRPr lang="en-IN" b="1" dirty="0"/>
          </a:p>
          <a:p>
            <a:r>
              <a:rPr lang="en-US" dirty="0"/>
              <a:t>An agent that identifies declining adherence trends using historical patterns and predefined rules.</a:t>
            </a:r>
          </a:p>
          <a:p>
            <a:endParaRPr lang="en-IN" dirty="0"/>
          </a:p>
          <a:p>
            <a:r>
              <a:rPr lang="en-US" b="1" dirty="0"/>
              <a:t>Reminder &amp; Lifestyle Support Assistant</a:t>
            </a:r>
            <a:endParaRPr lang="en-IN" b="1" dirty="0"/>
          </a:p>
          <a:p>
            <a:r>
              <a:rPr lang="en-US" dirty="0"/>
              <a:t>An agent that generates adherence to reminders and educational insights</a:t>
            </a:r>
            <a:br>
              <a:rPr lang="en-IN" dirty="0"/>
            </a:br>
            <a:r>
              <a:rPr lang="en-IN" dirty="0"/>
              <a:t> </a:t>
            </a:r>
            <a:r>
              <a:rPr lang="en-US" i="1" dirty="0"/>
              <a:t>(assistive only, non-diagnostic).</a:t>
            </a:r>
          </a:p>
          <a:p>
            <a:endParaRPr lang="en-IN" dirty="0"/>
          </a:p>
          <a:p>
            <a:r>
              <a:rPr lang="en-US" b="1" dirty="0"/>
              <a:t>Outcome</a:t>
            </a:r>
            <a:endParaRPr lang="en-IN" b="1" dirty="0"/>
          </a:p>
          <a:p>
            <a:r>
              <a:rPr lang="en-US" dirty="0"/>
              <a:t>Improves medication adherence to awareness and supports better long-term treatment outcomes.</a:t>
            </a:r>
            <a:endParaRPr lang="en-IN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7FE32-8AA8-E540-E0AA-C9737C71A0E2}"/>
              </a:ext>
            </a:extLst>
          </p:cNvPr>
          <p:cNvSpPr txBox="1"/>
          <p:nvPr/>
        </p:nvSpPr>
        <p:spPr>
          <a:xfrm>
            <a:off x="805056" y="447690"/>
            <a:ext cx="32268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Problem statement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64CCA-ED49-69BC-3595-2C1CBD5E6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44C99C-C879-4B03-F7F7-7306F7D33083}"/>
              </a:ext>
            </a:extLst>
          </p:cNvPr>
          <p:cNvSpPr txBox="1"/>
          <p:nvPr/>
        </p:nvSpPr>
        <p:spPr>
          <a:xfrm>
            <a:off x="893255" y="1557077"/>
            <a:ext cx="1026871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b="1" dirty="0"/>
              <a:t>Medication Data Analysis Agent:</a:t>
            </a:r>
            <a:r>
              <a:rPr lang="en-IN" sz="1800" dirty="0"/>
              <a:t> Ingests CSV logs and refills history to calculate real-time Proportion of Days Covered (PDC). 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8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b="1" dirty="0"/>
              <a:t>Adherence Risk Detection Agent:</a:t>
            </a:r>
            <a:r>
              <a:rPr lang="en-IN" sz="1800" dirty="0"/>
              <a:t> Employs </a:t>
            </a:r>
            <a:r>
              <a:rPr lang="en-IN" sz="1800" b="1" dirty="0"/>
              <a:t>Group-Based Trajectory Modelling (GBTM)</a:t>
            </a:r>
            <a:r>
              <a:rPr lang="en-IN" sz="1800" dirty="0"/>
              <a:t> to classify patients into "risk tiers" (e.g., Gradual Decline vs. Rapid Decline).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8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b="1" dirty="0"/>
              <a:t>Reminder &amp; Lifestyle Support Assistant:</a:t>
            </a:r>
            <a:r>
              <a:rPr lang="en-IN" sz="1800" dirty="0"/>
              <a:t> An Agentic RAG system that delivers personalized "Behavioural Tailoring" advice grounded in WHO and NICE clinical guidelines.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8320-B634-92CD-C520-43B25557F859}"/>
              </a:ext>
            </a:extLst>
          </p:cNvPr>
          <p:cNvSpPr txBox="1"/>
          <p:nvPr/>
        </p:nvSpPr>
        <p:spPr>
          <a:xfrm>
            <a:off x="893255" y="741143"/>
            <a:ext cx="453919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/>
              <a:t>Proposed solution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E1157-422B-2DEC-F7BF-0A06B973C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A01B5799-6C2E-7FE4-A2C6-734DB049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4CB905EF-62C2-FD1F-CE05-FBD2CBBD3921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26727-ECCC-12A7-1A74-4C72030B01EA}"/>
              </a:ext>
            </a:extLst>
          </p:cNvPr>
          <p:cNvSpPr txBox="1"/>
          <p:nvPr/>
        </p:nvSpPr>
        <p:spPr>
          <a:xfrm>
            <a:off x="1005840" y="1584102"/>
            <a:ext cx="1026871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Early identification of patients at risk of non-adherence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Behavior-aware risk stratification instead of binary adherence checks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Clinically grounded, explainable AI outputs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Scalable multi-agent architecture aligned with real healthcare workflows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D9ED1-DFE2-2CB1-E07B-2D3C44A85C9C}"/>
              </a:ext>
            </a:extLst>
          </p:cNvPr>
          <p:cNvSpPr txBox="1"/>
          <p:nvPr/>
        </p:nvSpPr>
        <p:spPr>
          <a:xfrm>
            <a:off x="1005840" y="650761"/>
            <a:ext cx="5496434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/>
              <a:t>Need of project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F3E9D-0527-2FF2-E87C-9369E2B67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1D21EE38-4FEA-9D7F-68F1-831EDFE1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68C1E71E-9159-FD3B-73D2-CC7380E7CB93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1273CA-7EF7-F715-EF93-66F231F3ABD1}"/>
              </a:ext>
            </a:extLst>
          </p:cNvPr>
          <p:cNvSpPr txBox="1"/>
          <p:nvPr/>
        </p:nvSpPr>
        <p:spPr>
          <a:xfrm>
            <a:off x="1034441" y="937980"/>
            <a:ext cx="10268712" cy="5243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/>
              <a:t>Patients with Chronic Conditions</a:t>
            </a:r>
          </a:p>
          <a:p>
            <a:pPr marL="285750" lvl="6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Individuals managing long-term medications (e.g., diabetes, hypertension)</a:t>
            </a:r>
          </a:p>
          <a:p>
            <a:pPr marL="285750" lvl="6" indent="-28575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Receive personalized reminders and adherence support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/>
              <a:t>Caregivers / Family Members</a:t>
            </a:r>
            <a:endParaRPr lang="en-US" sz="1500" dirty="0"/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Monitor adherence risk alerts for elderly or dependent patients</a:t>
            </a:r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Support timely medication intake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/>
              <a:t>Healthcare Providers (Doctors, Nurses, Pharmacists)</a:t>
            </a:r>
            <a:endParaRPr lang="en-US" sz="1500" dirty="0"/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View adherence risk levels and behavioral trends</a:t>
            </a:r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Enable early, non-diagnostic intervention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/>
              <a:t>Healthcare Organizations &amp; Hospitals</a:t>
            </a:r>
            <a:endParaRPr lang="en-US" sz="1500" dirty="0"/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Reduce readmissions caused by non-adherence</a:t>
            </a:r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Improve population-level medication compliance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/>
              <a:t>Public Health &amp; Research Teams</a:t>
            </a:r>
            <a:endParaRPr lang="en-US" sz="1500" dirty="0"/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Analyze adherence patterns at scale</a:t>
            </a:r>
          </a:p>
          <a:p>
            <a:pPr marL="342900" lvl="1" indent="-342900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1500" dirty="0"/>
              <a:t>Support evidence-based healthcare planning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87C414-2D49-9E5D-A5D6-CF94524B9BE5}"/>
              </a:ext>
            </a:extLst>
          </p:cNvPr>
          <p:cNvSpPr txBox="1"/>
          <p:nvPr/>
        </p:nvSpPr>
        <p:spPr>
          <a:xfrm>
            <a:off x="1034441" y="291273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End user of project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9F497-8CBE-8DC8-B6F2-DCAEF5D36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76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1051560" y="1426464"/>
            <a:ext cx="1051560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Langflow platform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Granite model (ibm-granite-3-2-8b)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RAG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Watsonx.ai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Watsonx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72C005-E1BD-D1EA-4A68-50937DBC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05CA2-FCEF-8CE1-1E3E-3B31D2F67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Real-World Use Case Scenario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85CE94-4647-8DDB-061B-FBF5920998E5}"/>
              </a:ext>
            </a:extLst>
          </p:cNvPr>
          <p:cNvSpPr txBox="1"/>
          <p:nvPr/>
        </p:nvSpPr>
        <p:spPr>
          <a:xfrm>
            <a:off x="919480" y="1690688"/>
            <a:ext cx="999744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Example: Patient Journey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Patient starts medication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Slight adherence drop detected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Risk agent flags early warning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Reminder agent generates advice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Email agent notifies patient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Patient resumes routine</a:t>
            </a:r>
            <a:endParaRPr lang="en-IN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789E18-6B94-E045-C437-BA8CE70B5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280792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542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/>
          <p:nvPr/>
        </p:nvSpPr>
        <p:spPr>
          <a:xfrm>
            <a:off x="1218724" y="475593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Novelty and Uniqueness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1064264" y="1583562"/>
            <a:ext cx="7468553" cy="4085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6BD740-4294-408A-9014-7C75E9F5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921012" y="1545028"/>
            <a:ext cx="8104115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Uses </a:t>
            </a: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trajectory-based adherence modeling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capture long-term behavioral patterns rather than isolated events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Enables </a:t>
            </a: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true multi-agent collaboration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where specialized agents detect, reason, and act in coordination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Predicts adherence risk proactively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identifying failure signals before missed doses occur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RAG-backed decision-making ensures hallucination-free outputs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grounded in clinical and policy guidelines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Built-in email intervention engine</a:t>
            </a:r>
            <a:r>
              <a:rPr kumimoji="0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automatically delivers risk-aware, personalized alerts to patients and caregivers — </a:t>
            </a:r>
            <a:r>
              <a:rPr kumimoji="0" 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bridging AI insights with real-world action</a:t>
            </a:r>
            <a:endParaRPr kumimoji="0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3CA0D-9A22-17F6-AD56-7F127CA23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Multi-Agent Workflow Design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A8F9B5-C715-9886-E55D-912FE3F0DD81}"/>
              </a:ext>
            </a:extLst>
          </p:cNvPr>
          <p:cNvSpPr txBox="1"/>
          <p:nvPr/>
        </p:nvSpPr>
        <p:spPr>
          <a:xfrm>
            <a:off x="838200" y="1622584"/>
            <a:ext cx="9985248" cy="4109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en-US" sz="1600" dirty="0"/>
              <a:t>The system must implement the three mandatory agents defined in the problem statement 3:</a:t>
            </a:r>
          </a:p>
          <a:p>
            <a:pPr lvl="1" algn="just">
              <a:lnSpc>
                <a:spcPct val="150000"/>
              </a:lnSpc>
            </a:pPr>
            <a:endParaRPr lang="en-US" sz="1600" dirty="0"/>
          </a:p>
          <a:p>
            <a:pPr marL="3429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/>
              <a:t>Medication Data Analysis Agent: A custom Python node in </a:t>
            </a:r>
            <a:r>
              <a:rPr lang="en-US" sz="1600" dirty="0" err="1"/>
              <a:t>LangFlow</a:t>
            </a:r>
            <a:r>
              <a:rPr lang="en-US" sz="1600" dirty="0"/>
              <a:t> that ingests CSV medication logs (e.g., from IoT-based datasets on Kaggle) and calculates the Proportion of Days Covered (PDC):</a:t>
            </a:r>
          </a:p>
          <a:p>
            <a:pPr marL="3429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/>
              <a:t>Adherence Risk Detection Agent: Utilizing Granite 8B Instruct, this agent classifies patient behavior into risk tiers based on trajectory modeling research. It identifies subtle patterns of decline before a patient misses their first refill.</a:t>
            </a:r>
          </a:p>
          <a:p>
            <a:pPr marL="3429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/>
              <a:t>Reminder &amp; Lifestyle Support Assistant: An agentic RAG system that retrieves evidence-based advice from a vector store containing WHO and NICE medication adherence guidelines.</a:t>
            </a:r>
          </a:p>
          <a:p>
            <a:pPr marL="342900" lvl="1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1600" dirty="0"/>
              <a:t>Email notification Agent: Automatically sends adherence alert, Delivers reminders via email, Ensures timely patient communication</a:t>
            </a:r>
            <a:endParaRPr lang="en-IN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2AB003-5274-4105-A863-662F64E0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704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dirty="0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Langflow component Used </a:t>
            </a:r>
            <a:endParaRPr lang="en-US" sz="2400" b="1" i="0" u="none" strike="noStrike" cap="none" dirty="0">
              <a:solidFill>
                <a:srgbClr val="000000"/>
              </a:solidFill>
              <a:ea typeface="Times New Roman"/>
              <a:cs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621792" y="1389888"/>
            <a:ext cx="882396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ChatInput</a:t>
            </a:r>
            <a:r>
              <a:rPr lang="en-US" sz="1600" dirty="0"/>
              <a:t> – Takes the user’s chat message as input to the flow.</a:t>
            </a:r>
          </a:p>
          <a:p>
            <a:r>
              <a:rPr lang="en-US" sz="1600" dirty="0"/>
              <a:t>​</a:t>
            </a:r>
          </a:p>
          <a:p>
            <a:r>
              <a:rPr lang="en-US" sz="1600" b="1" dirty="0" err="1"/>
              <a:t>IBMwatsonxMode</a:t>
            </a:r>
            <a:r>
              <a:rPr lang="en-US" sz="1600" dirty="0" err="1"/>
              <a:t>l</a:t>
            </a:r>
            <a:r>
              <a:rPr lang="en-US" sz="1600" dirty="0"/>
              <a:t> – Calls an IBM </a:t>
            </a:r>
            <a:r>
              <a:rPr lang="en-US" sz="1600" dirty="0" err="1"/>
              <a:t>watsonx</a:t>
            </a:r>
            <a:r>
              <a:rPr lang="en-US" sz="1600" dirty="0"/>
              <a:t> LLM to generate a text response from the input message.</a:t>
            </a:r>
          </a:p>
          <a:p>
            <a:r>
              <a:rPr lang="en-US" sz="1600" dirty="0"/>
              <a:t>​</a:t>
            </a:r>
          </a:p>
          <a:p>
            <a:r>
              <a:rPr lang="en-US" sz="1600" b="1" dirty="0"/>
              <a:t>Agent</a:t>
            </a:r>
            <a:r>
              <a:rPr lang="en-US" sz="1600" dirty="0"/>
              <a:t> – Orchestrates tool use and reasoning over messages and tools to produce a final agentic response.</a:t>
            </a:r>
          </a:p>
          <a:p>
            <a:r>
              <a:rPr lang="en-US" sz="1600" dirty="0"/>
              <a:t>​</a:t>
            </a:r>
          </a:p>
          <a:p>
            <a:r>
              <a:rPr lang="en-US" sz="1600" b="1" dirty="0"/>
              <a:t>Prompt Template </a:t>
            </a:r>
            <a:r>
              <a:rPr lang="en-US" sz="1600" dirty="0"/>
              <a:t>– Formats and structures messages (e.g., injecting the agent’s output) into a prompt for the next agent.</a:t>
            </a:r>
          </a:p>
          <a:p>
            <a:r>
              <a:rPr lang="en-US" sz="1600" dirty="0"/>
              <a:t>​</a:t>
            </a:r>
          </a:p>
          <a:p>
            <a:r>
              <a:rPr lang="en-US" sz="1600" b="1" dirty="0"/>
              <a:t>File</a:t>
            </a:r>
            <a:r>
              <a:rPr lang="en-US" sz="1600" dirty="0"/>
              <a:t> – Provides file content as a message input into the flow.</a:t>
            </a:r>
          </a:p>
          <a:p>
            <a:r>
              <a:rPr lang="en-US" sz="1600" dirty="0"/>
              <a:t>​</a:t>
            </a:r>
          </a:p>
          <a:p>
            <a:r>
              <a:rPr lang="en-US" sz="1600" b="1" dirty="0" err="1"/>
              <a:t>SplitText</a:t>
            </a:r>
            <a:r>
              <a:rPr lang="en-US" sz="1600" dirty="0"/>
              <a:t> – Splits file or message content into chunks for downstream processing.</a:t>
            </a:r>
            <a:endParaRPr lang="en-IN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5A7959-9FC6-1DAE-7A47-36165450E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665321" y="114619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dirty="0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Components used as Tools</a:t>
            </a:r>
            <a:endParaRPr lang="en-US" sz="2400" b="1" i="0" u="none" strike="noStrike" cap="none" dirty="0">
              <a:solidFill>
                <a:srgbClr val="000000"/>
              </a:solidFill>
              <a:ea typeface="Times New Roman"/>
              <a:cs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665321" y="2404195"/>
            <a:ext cx="882396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Python Interpreter Component</a:t>
            </a:r>
            <a:r>
              <a:rPr lang="en-US" sz="1600" dirty="0"/>
              <a:t> – Exposes a Python execution environment as a tool that the agent can call, used to calculate </a:t>
            </a:r>
            <a:r>
              <a:rPr lang="en-US" sz="1600" dirty="0" err="1"/>
              <a:t>pdc_score</a:t>
            </a:r>
            <a:r>
              <a:rPr lang="en-US" sz="1600" dirty="0"/>
              <a:t> as well as </a:t>
            </a:r>
            <a:r>
              <a:rPr lang="en-US" sz="1600" dirty="0" err="1"/>
              <a:t>adherence_risk</a:t>
            </a:r>
            <a:r>
              <a:rPr lang="en-US" sz="1600" dirty="0"/>
              <a:t> classification.</a:t>
            </a:r>
          </a:p>
          <a:p>
            <a:r>
              <a:rPr lang="en-US" sz="1600" b="1" dirty="0"/>
              <a:t>​​</a:t>
            </a:r>
          </a:p>
          <a:p>
            <a:r>
              <a:rPr lang="en-US" sz="1600" b="1" dirty="0"/>
              <a:t>Adherence Prediction Component </a:t>
            </a:r>
            <a:r>
              <a:rPr lang="en-US" sz="1600" dirty="0"/>
              <a:t>– Used API Request component which will send HTTP request to the deployed ML model which predicts the </a:t>
            </a:r>
            <a:r>
              <a:rPr lang="en-US" sz="1600" dirty="0" err="1"/>
              <a:t>adherence_status</a:t>
            </a:r>
            <a:r>
              <a:rPr lang="en-US" sz="1600" dirty="0"/>
              <a:t> of Patient.</a:t>
            </a:r>
          </a:p>
          <a:p>
            <a:endParaRPr lang="en-US" sz="1600" dirty="0"/>
          </a:p>
          <a:p>
            <a:r>
              <a:rPr lang="en-US" sz="1600" b="1" dirty="0"/>
              <a:t>Mail Sending Component</a:t>
            </a:r>
            <a:r>
              <a:rPr lang="en-US" sz="1600" dirty="0"/>
              <a:t>– Used API Request component which will send mails for the patients with proper WHO guidelines message along with their risk level.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5A7959-9FC6-1DAE-7A47-36165450E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8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240184" y="1098290"/>
            <a:ext cx="11711629" cy="517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"/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Technical flow diagram - Architecture</a:t>
            </a:r>
            <a:r>
              <a:rPr lang="en-US" sz="2400" b="1" i="0" u="none" strike="noStrike" cap="none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blueprint</a:t>
            </a:r>
            <a:endParaRPr lang="en-US" sz="2400" b="1" dirty="0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F004CF-732B-B365-E320-17AD7B82A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6" y="6275790"/>
            <a:ext cx="11520407" cy="3100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187EA5E-F5C0-1506-9F76-0D645962A3EE}"/>
              </a:ext>
            </a:extLst>
          </p:cNvPr>
          <p:cNvSpPr/>
          <p:nvPr/>
        </p:nvSpPr>
        <p:spPr>
          <a:xfrm>
            <a:off x="10657057" y="5528733"/>
            <a:ext cx="1294756" cy="3071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FDCD98B7-719D-E098-F94D-5F38D1DE9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>
            <a:extLst>
              <a:ext uri="{FF2B5EF4-FFF2-40B4-BE49-F238E27FC236}">
                <a16:creationId xmlns:a16="http://schemas.microsoft.com/office/drawing/2014/main" id="{E2F9DAD2-1456-D895-0E95-C7671A356B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1623644" y="962133"/>
            <a:ext cx="8944710" cy="517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">
            <a:extLst>
              <a:ext uri="{FF2B5EF4-FFF2-40B4-BE49-F238E27FC236}">
                <a16:creationId xmlns:a16="http://schemas.microsoft.com/office/drawing/2014/main" id="{13A01BC5-962D-D16B-4001-076C7A423AA7}"/>
              </a:ext>
            </a:extLst>
          </p:cNvPr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b="1" dirty="0">
                <a:solidFill>
                  <a:schemeClr val="dk1"/>
                </a:solidFill>
              </a:rPr>
              <a:t>Input Screenshot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4F03A1-43AE-2EE6-58E3-86FC93643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6" y="6275790"/>
            <a:ext cx="11520407" cy="3100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0BB82EA-874A-D115-5BD0-4B9B49B349C5}"/>
              </a:ext>
            </a:extLst>
          </p:cNvPr>
          <p:cNvSpPr/>
          <p:nvPr/>
        </p:nvSpPr>
        <p:spPr>
          <a:xfrm>
            <a:off x="10657057" y="5528733"/>
            <a:ext cx="1294756" cy="3071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6586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2A81F00F-7695-7EAE-D55F-DCDE8AD9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>
            <a:extLst>
              <a:ext uri="{FF2B5EF4-FFF2-40B4-BE49-F238E27FC236}">
                <a16:creationId xmlns:a16="http://schemas.microsoft.com/office/drawing/2014/main" id="{3501E11E-481B-7A0C-9927-F33B212B31E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1689616" y="962133"/>
            <a:ext cx="8812765" cy="517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">
            <a:extLst>
              <a:ext uri="{FF2B5EF4-FFF2-40B4-BE49-F238E27FC236}">
                <a16:creationId xmlns:a16="http://schemas.microsoft.com/office/drawing/2014/main" id="{E297A255-EBBC-27CA-367C-C75D96E52BB5}"/>
              </a:ext>
            </a:extLst>
          </p:cNvPr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400" b="1" dirty="0">
                <a:solidFill>
                  <a:schemeClr val="dk1"/>
                </a:solidFill>
              </a:rPr>
              <a:t>Output Screenshot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1A9066-8976-F196-5EBF-18F84F3F61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6" y="6275790"/>
            <a:ext cx="11520407" cy="3100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82A399F-A043-D59F-5B61-ECBF2255AA17}"/>
              </a:ext>
            </a:extLst>
          </p:cNvPr>
          <p:cNvSpPr/>
          <p:nvPr/>
        </p:nvSpPr>
        <p:spPr>
          <a:xfrm>
            <a:off x="10657057" y="5528733"/>
            <a:ext cx="1294756" cy="3071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8400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59099" y="74575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Workflow of Agent 1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C8A8E3-6EB6-8E2F-8176-581A6A585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7179" y="662404"/>
            <a:ext cx="10929470" cy="5400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D5A0147F-D891-C4F6-92EF-067931899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058526-C04F-AB09-19D4-0FD14C7F6B52}"/>
              </a:ext>
            </a:extLst>
          </p:cNvPr>
          <p:cNvSpPr txBox="1"/>
          <p:nvPr/>
        </p:nvSpPr>
        <p:spPr>
          <a:xfrm>
            <a:off x="859099" y="74575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Workflow of Agent 2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093216-70F0-022D-E917-57E69FE0A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30D59B-D1A4-1753-BB1C-225D1F054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20535" y="662404"/>
            <a:ext cx="9762758" cy="5400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212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38304265-6F47-74A1-68AB-17D75EF8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6389A9-8A75-54CC-CC28-800EAEA94994}"/>
              </a:ext>
            </a:extLst>
          </p:cNvPr>
          <p:cNvSpPr txBox="1"/>
          <p:nvPr/>
        </p:nvSpPr>
        <p:spPr>
          <a:xfrm>
            <a:off x="859099" y="74575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Workflow of Agent 3 and 4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0A6DB5-6070-0F7A-A2B8-400B061C3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7A251-2D99-2279-DEAB-03906B7B53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90812" y="631924"/>
            <a:ext cx="9622203" cy="5400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2588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8C0E09A-1C60-C6C6-C0F0-198A5AF5B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087FA1-2CB1-3205-92CD-9CC8EBD2C89B}"/>
              </a:ext>
            </a:extLst>
          </p:cNvPr>
          <p:cNvSpPr txBox="1"/>
          <p:nvPr/>
        </p:nvSpPr>
        <p:spPr>
          <a:xfrm>
            <a:off x="838779" y="200739"/>
            <a:ext cx="870146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Uploading files to create Vector Embeddings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86E328-2321-B0A4-6F1D-CCB155176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C45D9D0-064E-FF4D-88BC-B3B3111AFB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83915" y="784185"/>
            <a:ext cx="8879759" cy="528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7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5EBB4-C181-831A-CBFF-DF0F9C98C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809" y="198364"/>
            <a:ext cx="11038381" cy="699745"/>
          </a:xfrm>
        </p:spPr>
        <p:txBody>
          <a:bodyPr>
            <a:normAutofit fontScale="90000"/>
          </a:bodyPr>
          <a:lstStyle/>
          <a:p>
            <a:r>
              <a:rPr lang="en-IN" dirty="0"/>
              <a:t>Core pillars of Innovation and Research Grounding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6551B772-ED74-9F79-951A-D0238115E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809" y="844366"/>
            <a:ext cx="11038382" cy="60136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1. Group-Based Trajectory Modeling (GBTM) Logic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171450" lvl="2" indent="-1714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The Science: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Grounded in the landmark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Nagin &amp; Odgers (2010)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and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Franklin (2013)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research.</a:t>
            </a:r>
          </a:p>
          <a:p>
            <a:pPr marL="171450" lvl="2" indent="-1714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The Application: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Our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Risk Detection Agent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identifies transition points where a patient moves from "Consistently Adherent" to "Slow Decline" groups, allowing for intervention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before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a dose is missed.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2. Mathematical Rigor: PDC &amp; MPR Metrics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171450" lvl="6" indent="-1714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Standardized Analysis: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The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Data Analysis Agent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uses the clinical standard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Proportion of Days Covered (PDC)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formula to provide quantitative validity to the adherence scores.</a:t>
            </a:r>
          </a:p>
          <a:p>
            <a:pPr marL="171450" lvl="8" indent="-1714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PDC = Total days medication was on hand / Total days in the period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3. Safety &amp; Ethics via Granite Guardian 3.0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171450" marR="0" lvl="0" indent="-1714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Hallucination Protection: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Every generated email and advisory is passed through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Granite Guardian 3.0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to ensure 100% "Answer Faithfulness" against the medical knowledge base. 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Regulatory Compliance: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Built with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Privacy-by-Design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to ensure patient health data is handled safely, following non-diagnostic, "assistive-only" healthcare standards.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4. Behavioral Science: Nudge Theory &amp; Habit Linking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171450" marR="0" lvl="0" indent="-1714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Personalized Psychology: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Grounded in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Behavioral Tailoring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research, the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Advisory Assistant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doesn't send generic alerts; it suggests "habit-linking" techniques (e.g., "Take your dose with your morning tea") proven to form long-term adherence.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5. Multi-Agent Orchestration Synergy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171450" marR="0" lvl="0" indent="-1714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Beyond Linear RAG: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Unlike traditional RAG, our Langflow architecture uses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Agentic Reasoning (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ReACT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Prompting)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, where agents collaboratively decide when to use specific tools (Calculators vs. Search vs. Email) to solve the patient's goal.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1488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 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82732" y="1393948"/>
            <a:ext cx="9214580" cy="2729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SMS / WhatsApp notifications</a:t>
            </a: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Doctor &amp; caregiver alerts</a:t>
            </a: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Adaptive reminder scheduling</a:t>
            </a: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with hospital EMR systems</a:t>
            </a: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Feedback-based reminder optimization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6DCFED-2C83-7A17-CDB2-A4F4D4BBD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sp>
        <p:nvSpPr>
          <p:cNvPr id="2" name="Google Shape;278;p18">
            <a:extLst>
              <a:ext uri="{FF2B5EF4-FFF2-40B4-BE49-F238E27FC236}">
                <a16:creationId xmlns:a16="http://schemas.microsoft.com/office/drawing/2014/main" id="{18A8A23D-B9F2-548F-FA15-6F0668735AFA}"/>
              </a:ext>
            </a:extLst>
          </p:cNvPr>
          <p:cNvSpPr/>
          <p:nvPr/>
        </p:nvSpPr>
        <p:spPr>
          <a:xfrm>
            <a:off x="1218724" y="4378421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Hub Link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" name="Google Shape;279;p18">
            <a:extLst>
              <a:ext uri="{FF2B5EF4-FFF2-40B4-BE49-F238E27FC236}">
                <a16:creationId xmlns:a16="http://schemas.microsoft.com/office/drawing/2014/main" id="{CE4AA72D-B1E8-181B-5BC8-C6C966AA3684}"/>
              </a:ext>
            </a:extLst>
          </p:cNvPr>
          <p:cNvSpPr/>
          <p:nvPr/>
        </p:nvSpPr>
        <p:spPr>
          <a:xfrm>
            <a:off x="1282732" y="53563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https://github.com/sandeep5shetty/langflow-medication-agent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FECD098C-4ECF-993B-66E2-9989F83F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BDA5ADF-C9A0-CA5D-844A-6AC3872A0D8C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</a:pPr>
            <a:r>
              <a:rPr lang="en-US" sz="3500" b="1" dirty="0">
                <a:solidFill>
                  <a:srgbClr val="051D3A"/>
                </a:solidFill>
                <a:latin typeface="Times New Roman"/>
                <a:cs typeface="Times New Roman"/>
                <a:sym typeface="Times New Roman"/>
              </a:rPr>
              <a:t>References </a:t>
            </a:r>
            <a:endParaRPr lang="en-US" dirty="0"/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AF5AFD00-74FD-B439-5973-23933ABD88EC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WHO — Adherence to Long‑Term Therapies: Evidence for Action</a:t>
            </a:r>
            <a:br>
              <a:rPr lang="en-US" dirty="0"/>
            </a:br>
            <a:r>
              <a:rPr lang="en-US" dirty="0"/>
              <a:t>This is a foundational WHO report defining and explaining medication adherence and its global impact. WHO Adherence to Long‑Term Therapies: Evidence for Action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NICE Guideline CG76 — Medicines Adherence</a:t>
            </a:r>
            <a:br>
              <a:rPr lang="en-US" dirty="0"/>
            </a:br>
            <a:r>
              <a:rPr lang="en-US" dirty="0"/>
              <a:t>UK clinical guideline on involving patients in decisions about medicines and supporting adherence. NICE Medicines Adherence Guideline CG76 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NICE Surveillance Summary</a:t>
            </a:r>
            <a:br>
              <a:rPr lang="en-US" dirty="0"/>
            </a:br>
            <a:r>
              <a:rPr lang="en-US" dirty="0"/>
              <a:t>Describes the continued relevance of the CG76 guideline and mentions digital tech/decision support. 2019 NICE Guideline Surveillance on Medication Adherence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60EC5B-78FF-4D99-1A49-A2DD6DB4A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6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9DDD0D-7A91-1E4E-00BA-F7FF05ABF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1445</TotalTime>
  <Words>1336</Words>
  <Application>Microsoft Office PowerPoint</Application>
  <PresentationFormat>Widescreen</PresentationFormat>
  <Paragraphs>160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Courier New</vt:lpstr>
      <vt:lpstr>Times New Roman</vt:lpstr>
      <vt:lpstr>Wingdings</vt:lpstr>
      <vt:lpstr>Office Theme</vt:lpstr>
      <vt:lpstr>Explainable Multi-Agent System for Early Detection of Medication Non-Adherence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Real-World Use Case Scenario </vt:lpstr>
      <vt:lpstr>PowerPoint Presentation</vt:lpstr>
      <vt:lpstr>Multi-Agent Workflow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Core pillars of Innovation and Research Grounding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Sandeep Shetty</cp:lastModifiedBy>
  <cp:revision>125</cp:revision>
  <dcterms:created xsi:type="dcterms:W3CDTF">2025-07-08T05:06:56Z</dcterms:created>
  <dcterms:modified xsi:type="dcterms:W3CDTF">2026-01-28T13:06:26Z</dcterms:modified>
</cp:coreProperties>
</file>
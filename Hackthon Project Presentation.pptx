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83" r:id="rId2"/>
    <p:sldId id="257" r:id="rId3"/>
    <p:sldId id="282" r:id="rId4"/>
    <p:sldId id="259" r:id="rId5"/>
    <p:sldId id="287" r:id="rId6"/>
    <p:sldId id="288" r:id="rId7"/>
    <p:sldId id="278" r:id="rId8"/>
    <p:sldId id="292" r:id="rId9"/>
    <p:sldId id="273" r:id="rId10"/>
    <p:sldId id="290" r:id="rId11"/>
    <p:sldId id="281" r:id="rId12"/>
    <p:sldId id="294" r:id="rId13"/>
    <p:sldId id="279" r:id="rId14"/>
    <p:sldId id="293" r:id="rId15"/>
    <p:sldId id="285" r:id="rId16"/>
    <p:sldId id="286" r:id="rId17"/>
    <p:sldId id="291" r:id="rId18"/>
    <p:sldId id="280" r:id="rId19"/>
    <p:sldId id="277" r:id="rId20"/>
    <p:sldId id="289" r:id="rId21"/>
    <p:sldId id="27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493C2-F961-AE6C-C78A-A3E397BAC3D1}" v="77" dt="2026-01-24T07:12:45.064"/>
    <p1510:client id="{857E11F3-F11C-6843-C73E-27677A40A984}" v="240" dt="2026-01-24T07:27:37.62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46942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5005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8813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xmlns="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xmlns="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xmlns="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xmlns="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xmlns="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xmlns="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148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7798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8094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AF421AB5-C8B9-103C-00CD-4845CDDB8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02B8E18B-B5B1-AC89-9D48-66D344E302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53B035D6-8279-E45C-02BF-7D1063481F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4207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6D9BD954-16FD-FB57-C6A4-EB5D3F15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0F3489E1-7724-611B-4E81-BEA0792A2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D0D8B4C3-8B92-E26F-E1AC-2161B8338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0805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3180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55319"/>
            <a:ext cx="10515600" cy="1292937"/>
          </a:xfrm>
        </p:spPr>
        <p:txBody>
          <a:bodyPr>
            <a:normAutofit/>
          </a:bodyPr>
          <a:lstStyle/>
          <a:p>
            <a:pPr algn="ctr"/>
            <a:r>
              <a:rPr lang="en-US" sz="4000" b="1" i="1" dirty="0"/>
              <a:t>Explainable Multi-Agent System for Early Detection of Medication Non-Adherence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522AFBCE-D6E1-8CC1-58C4-6DA4BF5FC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272727"/>
            <a:ext cx="10515600" cy="1500187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 explainable multi-agent AI system that combines a PDC-based ML model with LLM agents to detect early medication non-adherence and predict patient risk for proactive intervention.</a:t>
            </a:r>
            <a:endParaRPr lang="en-I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437657" y="661787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lang="en-US" sz="35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CARE3AI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2382797" y="1101273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714487790"/>
              </p:ext>
            </p:extLst>
          </p:nvPr>
        </p:nvGraphicFramePr>
        <p:xfrm>
          <a:off x="2474995" y="1720972"/>
          <a:ext cx="7227052" cy="411853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58577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79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TEAM MEMBER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/>
                        <a:t>Sandeepa</a:t>
                      </a:r>
                      <a:r>
                        <a:rPr lang="en-IN" dirty="0"/>
                        <a:t> N R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Sandeepanr.mca25@bmsce.ac.in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6362030415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6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Shrilaxmi H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Srilaxmi.mca25@bmsce.ac.in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9945411015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Tanish g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tanishg.mca25@bmsce.ac.in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7019173230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F6745E-14BA-0766-CE1E-32E29663832D}"/>
              </a:ext>
            </a:extLst>
          </p:cNvPr>
          <p:cNvSpPr txBox="1"/>
          <p:nvPr/>
        </p:nvSpPr>
        <p:spPr>
          <a:xfrm>
            <a:off x="804672" y="1188720"/>
            <a:ext cx="761695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Challenge</a:t>
            </a:r>
            <a:endParaRPr lang="en-IN" b="1" dirty="0"/>
          </a:p>
          <a:p>
            <a:r>
              <a:rPr lang="en-US" dirty="0"/>
              <a:t>Medication of non-adherence is a major challenge in chronic disease management, often leading to poor health outcomes and increased hospitalizations. Healthcare providers lack continuous visibility in patient medication adherence patterns. There is a need for an assistive AI system that can analyze adherence data and identify patients at risk of non-compliance.</a:t>
            </a:r>
          </a:p>
          <a:p>
            <a:endParaRPr lang="en-IN" dirty="0"/>
          </a:p>
          <a:p>
            <a:r>
              <a:rPr lang="en-US" b="1" dirty="0"/>
              <a:t>Medication Data Analysis Agent</a:t>
            </a:r>
            <a:endParaRPr lang="en-IN" b="1" dirty="0"/>
          </a:p>
          <a:p>
            <a:r>
              <a:rPr lang="en-US" dirty="0"/>
              <a:t>An agent that analyzes medication intake logs, refill history, and missed-dose patterns.</a:t>
            </a:r>
          </a:p>
          <a:p>
            <a:endParaRPr lang="en-IN" dirty="0"/>
          </a:p>
          <a:p>
            <a:r>
              <a:rPr lang="en-US" b="1" dirty="0"/>
              <a:t>Adherence Risk Detection Agent</a:t>
            </a:r>
            <a:endParaRPr lang="en-IN" b="1" dirty="0"/>
          </a:p>
          <a:p>
            <a:r>
              <a:rPr lang="en-US" dirty="0"/>
              <a:t>An agent that identifies declining adherence trends using historical patterns and predefined rules.</a:t>
            </a:r>
          </a:p>
          <a:p>
            <a:endParaRPr lang="en-IN" dirty="0"/>
          </a:p>
          <a:p>
            <a:r>
              <a:rPr lang="en-US" b="1" dirty="0"/>
              <a:t>Reminder &amp; Lifestyle Support Assistant</a:t>
            </a:r>
            <a:endParaRPr lang="en-IN" b="1" dirty="0"/>
          </a:p>
          <a:p>
            <a:r>
              <a:rPr lang="en-US" dirty="0"/>
              <a:t>An agent that generates adherence to reminders and educational insights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 </a:t>
            </a:r>
            <a:r>
              <a:rPr lang="en-US" i="1" dirty="0"/>
              <a:t>(assistive only, non-diagnostic).</a:t>
            </a:r>
          </a:p>
          <a:p>
            <a:endParaRPr lang="en-IN" dirty="0"/>
          </a:p>
          <a:p>
            <a:r>
              <a:rPr lang="en-US" b="1" dirty="0"/>
              <a:t>Outcome</a:t>
            </a:r>
            <a:endParaRPr lang="en-IN" b="1" dirty="0"/>
          </a:p>
          <a:p>
            <a:r>
              <a:rPr lang="en-US" dirty="0"/>
              <a:t>Improves medication adherence to awareness and supports better long-term treatment outcomes.</a:t>
            </a:r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C57FE32-8AA8-E540-E0AA-C9737C71A0E2}"/>
              </a:ext>
            </a:extLst>
          </p:cNvPr>
          <p:cNvSpPr txBox="1"/>
          <p:nvPr/>
        </p:nvSpPr>
        <p:spPr>
          <a:xfrm>
            <a:off x="805056" y="447690"/>
            <a:ext cx="32268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244C99C-C879-4B03-F7F7-7306F7D33083}"/>
              </a:ext>
            </a:extLst>
          </p:cNvPr>
          <p:cNvSpPr txBox="1"/>
          <p:nvPr/>
        </p:nvSpPr>
        <p:spPr>
          <a:xfrm>
            <a:off x="893255" y="1557077"/>
            <a:ext cx="102687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Medication Data Analysis Agent:</a:t>
            </a:r>
            <a:r>
              <a:rPr lang="en-IN" sz="1800" dirty="0"/>
              <a:t> Ingests CSV logs and refills history to calculate real-time Proportion of Days Covered (PDC). </a:t>
            </a:r>
            <a:endParaRPr lang="en-IN" sz="1800" dirty="0" smtClean="0"/>
          </a:p>
          <a:p>
            <a:pPr>
              <a:lnSpc>
                <a:spcPct val="150000"/>
              </a:lnSpc>
            </a:pP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b="1" dirty="0"/>
              <a:t>Adherence Risk Detection Agent:</a:t>
            </a:r>
            <a:r>
              <a:rPr lang="en-IN" sz="1800" dirty="0"/>
              <a:t> Employs </a:t>
            </a:r>
            <a:r>
              <a:rPr lang="en-IN" sz="1800" b="1" dirty="0"/>
              <a:t>Group-Based Trajectory </a:t>
            </a:r>
            <a:r>
              <a:rPr lang="en-IN" sz="1800" b="1" dirty="0" err="1"/>
              <a:t>Modeling</a:t>
            </a:r>
            <a:r>
              <a:rPr lang="en-IN" sz="1800" b="1" dirty="0"/>
              <a:t> (GBTM)</a:t>
            </a:r>
            <a:r>
              <a:rPr lang="en-IN" sz="1800" dirty="0"/>
              <a:t> to classify patients into "risk tiers" (e.g., Gradual Decline vs. Rapid Decline</a:t>
            </a:r>
            <a:r>
              <a:rPr lang="en-IN" sz="1800" dirty="0" smtClean="0"/>
              <a:t>).</a:t>
            </a:r>
          </a:p>
          <a:p>
            <a:pPr>
              <a:lnSpc>
                <a:spcPct val="150000"/>
              </a:lnSpc>
            </a:pP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b="1" dirty="0"/>
              <a:t>Reminder &amp; Lifestyle Support Assistant:</a:t>
            </a:r>
            <a:r>
              <a:rPr lang="en-IN" sz="1800" dirty="0"/>
              <a:t> An Agentic RAG system that delivers personalized "</a:t>
            </a:r>
            <a:r>
              <a:rPr lang="en-IN" sz="1800" dirty="0" err="1"/>
              <a:t>Behavioral</a:t>
            </a:r>
            <a:r>
              <a:rPr lang="en-IN" sz="1800" dirty="0"/>
              <a:t> Tailoring" advice grounded in WHO and NICE clinical guidelines.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F548320-B634-92CD-C520-43B25557F859}"/>
              </a:ext>
            </a:extLst>
          </p:cNvPr>
          <p:cNvSpPr txBox="1"/>
          <p:nvPr/>
        </p:nvSpPr>
        <p:spPr>
          <a:xfrm>
            <a:off x="893255" y="741143"/>
            <a:ext cx="45391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xmlns="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xmlns="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6526727-ECCC-12A7-1A74-4C72030B01EA}"/>
              </a:ext>
            </a:extLst>
          </p:cNvPr>
          <p:cNvSpPr txBox="1"/>
          <p:nvPr/>
        </p:nvSpPr>
        <p:spPr>
          <a:xfrm>
            <a:off x="1005840" y="1584102"/>
            <a:ext cx="102687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Early identification of patients at risk of non-adherence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Behavior-aware risk stratification instead of binary adherence checks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Clinically grounded, explainable AI outputs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Scalable multi-agent architecture aligned with real healthcare workflows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A9D9ED1-DFE2-2CB1-E07B-2D3C44A85C9C}"/>
              </a:ext>
            </a:extLst>
          </p:cNvPr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xmlns="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xmlns="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81273CA-7EF7-F715-EF93-66F231F3ABD1}"/>
              </a:ext>
            </a:extLst>
          </p:cNvPr>
          <p:cNvSpPr txBox="1"/>
          <p:nvPr/>
        </p:nvSpPr>
        <p:spPr>
          <a:xfrm>
            <a:off x="1034441" y="912580"/>
            <a:ext cx="10268712" cy="5243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/>
              <a:t>Patients with Chronic Conditions</a:t>
            </a:r>
            <a:endParaRPr lang="en-US" sz="1500" dirty="0"/>
          </a:p>
          <a:p>
            <a:pPr lvl="1">
              <a:lnSpc>
                <a:spcPct val="150000"/>
              </a:lnSpc>
            </a:pPr>
            <a:r>
              <a:rPr lang="en-US" sz="1500" dirty="0"/>
              <a:t>Individuals managing long-term medications (e.g., diabetes, hypertension)</a:t>
            </a:r>
          </a:p>
          <a:p>
            <a:pPr lvl="1">
              <a:lnSpc>
                <a:spcPct val="150000"/>
              </a:lnSpc>
            </a:pPr>
            <a:r>
              <a:rPr lang="en-US" sz="1500" dirty="0"/>
              <a:t>Receive personalized reminders and adherence support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Caregivers / Family Members</a:t>
            </a:r>
            <a:endParaRPr lang="en-US" sz="1500" dirty="0"/>
          </a:p>
          <a:p>
            <a:pPr lvl="1">
              <a:lnSpc>
                <a:spcPct val="150000"/>
              </a:lnSpc>
            </a:pPr>
            <a:r>
              <a:rPr lang="en-US" sz="1500" dirty="0"/>
              <a:t>Monitor adherence risk alerts for elderly or dependent patients</a:t>
            </a:r>
          </a:p>
          <a:p>
            <a:pPr lvl="1">
              <a:lnSpc>
                <a:spcPct val="150000"/>
              </a:lnSpc>
            </a:pPr>
            <a:r>
              <a:rPr lang="en-US" sz="1500" dirty="0"/>
              <a:t>Support timely medication intake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Healthcare Providers (Doctors, Nurses, Pharmacists)</a:t>
            </a:r>
            <a:endParaRPr lang="en-US" sz="1500" dirty="0"/>
          </a:p>
          <a:p>
            <a:pPr lvl="1">
              <a:lnSpc>
                <a:spcPct val="150000"/>
              </a:lnSpc>
            </a:pPr>
            <a:r>
              <a:rPr lang="en-US" sz="1500" dirty="0"/>
              <a:t>View adherence risk levels and behavioral trends</a:t>
            </a:r>
          </a:p>
          <a:p>
            <a:pPr lvl="1">
              <a:lnSpc>
                <a:spcPct val="150000"/>
              </a:lnSpc>
            </a:pPr>
            <a:r>
              <a:rPr lang="en-US" sz="1500" dirty="0"/>
              <a:t>Enable early, non-diagnostic intervention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Healthcare Organizations &amp; Hospitals</a:t>
            </a:r>
            <a:endParaRPr lang="en-US" sz="1500" dirty="0"/>
          </a:p>
          <a:p>
            <a:pPr lvl="1">
              <a:lnSpc>
                <a:spcPct val="150000"/>
              </a:lnSpc>
            </a:pPr>
            <a:r>
              <a:rPr lang="en-US" sz="1500" dirty="0"/>
              <a:t>Reduce readmissions caused by non-adherence</a:t>
            </a:r>
          </a:p>
          <a:p>
            <a:pPr lvl="1">
              <a:lnSpc>
                <a:spcPct val="150000"/>
              </a:lnSpc>
            </a:pPr>
            <a:r>
              <a:rPr lang="en-US" sz="1500" dirty="0"/>
              <a:t>Improve population-level medication compliance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Public Health &amp; Research Teams</a:t>
            </a:r>
            <a:endParaRPr lang="en-US" sz="1500" dirty="0"/>
          </a:p>
          <a:p>
            <a:pPr lvl="1">
              <a:lnSpc>
                <a:spcPct val="150000"/>
              </a:lnSpc>
            </a:pPr>
            <a:r>
              <a:rPr lang="en-US" sz="1500" dirty="0"/>
              <a:t>Analyze adherence patterns at scale</a:t>
            </a:r>
          </a:p>
          <a:p>
            <a:pPr lvl="1">
              <a:lnSpc>
                <a:spcPct val="150000"/>
              </a:lnSpc>
            </a:pPr>
            <a:r>
              <a:rPr lang="en-US" sz="1500" dirty="0"/>
              <a:t>Support evidence-based healthcare planning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987C414-2D49-9E5D-A5D6-CF94524B9BE5}"/>
              </a:ext>
            </a:extLst>
          </p:cNvPr>
          <p:cNvSpPr txBox="1"/>
          <p:nvPr/>
        </p:nvSpPr>
        <p:spPr>
          <a:xfrm>
            <a:off x="1034441" y="291273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End user of project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7608B5-9906-EFCF-959A-E89FC2E3EE19}"/>
              </a:ext>
            </a:extLst>
          </p:cNvPr>
          <p:cNvSpPr txBox="1"/>
          <p:nvPr/>
        </p:nvSpPr>
        <p:spPr>
          <a:xfrm>
            <a:off x="1051560" y="1426464"/>
            <a:ext cx="105156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Langflow</a:t>
            </a:r>
            <a:r>
              <a:rPr lang="en-US" sz="1800" dirty="0"/>
              <a:t> platform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</a:t>
            </a:r>
            <a:r>
              <a:rPr lang="en-US" sz="1800" dirty="0" err="1"/>
              <a:t>Grainte</a:t>
            </a:r>
            <a:r>
              <a:rPr lang="en-US" sz="1800" dirty="0"/>
              <a:t> </a:t>
            </a:r>
            <a:r>
              <a:rPr lang="en-US" sz="1800" dirty="0" smtClean="0"/>
              <a:t>model (ibm-granite-3-2-8b)   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RAG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Watsonx.ai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Watsonx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05CA2-FCEF-8CE1-1E3E-3B31D2F6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Use Case Scenario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785CE94-4647-8DDB-061B-FBF5920998E5}"/>
              </a:ext>
            </a:extLst>
          </p:cNvPr>
          <p:cNvSpPr txBox="1"/>
          <p:nvPr/>
        </p:nvSpPr>
        <p:spPr>
          <a:xfrm>
            <a:off x="919480" y="1690688"/>
            <a:ext cx="999744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Example: Patient Journey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Patient starts medication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Slight adherence drop detected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Risk agent flags early warning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Reminder agent generates 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Email agent notifies patient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Patient resumes routine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F789E18-6B94-E045-C437-BA8CE70B5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280792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42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064264" y="1583562"/>
            <a:ext cx="7468553" cy="408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921012" y="1545028"/>
            <a:ext cx="810411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trajectory-based adherence modeling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capture long-term behavioral patterns rather than isolated events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multi-agent collaboration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where specialized agents detect, reason, and act in coordination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Predicts adherence risk proactively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identifying failure signals before missed doses occur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RAG-backed decision-making ensures hallucination-free outputs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grounded in clinical and policy guidelines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Built-in email intervention engine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delivers risk-aware, personalized alerts to patients and caregivers — 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bridging AI insights with real-world action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A3CA0D-9A22-17F6-AD56-7F127CA2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Multi-Agent Workflow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BA8F9B5-C715-9886-E55D-912FE3F0DD81}"/>
              </a:ext>
            </a:extLst>
          </p:cNvPr>
          <p:cNvSpPr txBox="1"/>
          <p:nvPr/>
        </p:nvSpPr>
        <p:spPr>
          <a:xfrm>
            <a:off x="838200" y="1622584"/>
            <a:ext cx="9985248" cy="410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sz="1600" dirty="0"/>
              <a:t>The system must implement the three mandatory agents defined in the problem statement 3:</a:t>
            </a:r>
          </a:p>
          <a:p>
            <a:pPr lvl="1" algn="just">
              <a:lnSpc>
                <a:spcPct val="150000"/>
              </a:lnSpc>
            </a:pPr>
            <a:endParaRPr lang="en-US" sz="1600" dirty="0"/>
          </a:p>
          <a:p>
            <a:pPr marL="3429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Medication Data Analysis Agent: A custom Python node in </a:t>
            </a:r>
            <a:r>
              <a:rPr lang="en-US" sz="1600" dirty="0" err="1"/>
              <a:t>LangFlow</a:t>
            </a:r>
            <a:r>
              <a:rPr lang="en-US" sz="1600" dirty="0"/>
              <a:t> that ingests CSV medication logs (e.g., from IoT-based datasets on Kaggle) and calculates the Proportion of Days Covered (PDC):</a:t>
            </a:r>
          </a:p>
          <a:p>
            <a:pPr marL="3429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Adherence Risk Detection Agent: Utilizing Granite 8B Instruct, this agent classifies patient behavior into risk tiers based on trajectory modeling research. It identifies subtle patterns of decline before a patient misses their first refill.</a:t>
            </a:r>
          </a:p>
          <a:p>
            <a:pPr marL="3429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Reminder &amp; Lifestyle Support Assistant: An agentic RAG system that retrieves evidence-based advice from a vector store containing WHO and NICE medication adherence guidelines.</a:t>
            </a:r>
          </a:p>
          <a:p>
            <a:pPr marL="3429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Email notification Agent: Automatically sends adherence alert, Delivers reminders via email, Ensures timely patient communication</a:t>
            </a:r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D2AB003-5274-4105-A863-662F64E08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0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err="1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2400" b="1" i="0" u="none" strike="noStrike" cap="none" dirty="0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 component Used </a:t>
            </a:r>
            <a:endParaRPr lang="en-US" sz="2400" b="1" i="0" u="none" strike="noStrike" cap="none">
              <a:solidFill>
                <a:srgbClr val="000000"/>
              </a:solidFill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BB86949-7ED1-C43B-B1E3-5122BB67A596}"/>
              </a:ext>
            </a:extLst>
          </p:cNvPr>
          <p:cNvSpPr txBox="1"/>
          <p:nvPr/>
        </p:nvSpPr>
        <p:spPr>
          <a:xfrm>
            <a:off x="621792" y="1389888"/>
            <a:ext cx="88239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ChatInput</a:t>
            </a:r>
            <a:r>
              <a:rPr lang="en-US" sz="1600" dirty="0"/>
              <a:t> – Takes the user’s chat message as input to the flow.</a:t>
            </a:r>
          </a:p>
          <a:p>
            <a:r>
              <a:rPr lang="en-US" sz="1600" dirty="0"/>
              <a:t>​</a:t>
            </a:r>
          </a:p>
          <a:p>
            <a:r>
              <a:rPr lang="en-US" sz="1600" b="1" dirty="0" err="1"/>
              <a:t>IBMwatsonxMode</a:t>
            </a:r>
            <a:r>
              <a:rPr lang="en-US" sz="1600" dirty="0" err="1"/>
              <a:t>l</a:t>
            </a:r>
            <a:r>
              <a:rPr lang="en-US" sz="1600" dirty="0"/>
              <a:t> – Calls an IBM </a:t>
            </a:r>
            <a:r>
              <a:rPr lang="en-US" sz="1600" dirty="0" err="1"/>
              <a:t>watsonx</a:t>
            </a:r>
            <a:r>
              <a:rPr lang="en-US" sz="1600" dirty="0"/>
              <a:t> LLM to generate a text response from the input message.</a:t>
            </a:r>
          </a:p>
          <a:p>
            <a:r>
              <a:rPr lang="en-US" sz="1600" dirty="0"/>
              <a:t>​</a:t>
            </a:r>
          </a:p>
          <a:p>
            <a:r>
              <a:rPr lang="en-US" sz="1600" b="1" dirty="0"/>
              <a:t>Agent</a:t>
            </a:r>
            <a:r>
              <a:rPr lang="en-US" sz="1600" dirty="0"/>
              <a:t> – Orchestrates tool use and reasoning over messages and tools to produce a final agentic response.</a:t>
            </a:r>
          </a:p>
          <a:p>
            <a:r>
              <a:rPr lang="en-US" sz="1600" dirty="0"/>
              <a:t>​</a:t>
            </a:r>
          </a:p>
          <a:p>
            <a:r>
              <a:rPr lang="en-US" sz="1600" b="1" dirty="0" smtClean="0"/>
              <a:t>Prompt </a:t>
            </a:r>
            <a:r>
              <a:rPr lang="en-US" sz="1600" b="1" dirty="0"/>
              <a:t>Template </a:t>
            </a:r>
            <a:r>
              <a:rPr lang="en-US" sz="1600" dirty="0"/>
              <a:t>– Formats and structures messages (e.g., injecting the agent’s output) into a prompt for the next agent.</a:t>
            </a:r>
          </a:p>
          <a:p>
            <a:r>
              <a:rPr lang="en-US" sz="1600" dirty="0"/>
              <a:t>​</a:t>
            </a:r>
          </a:p>
          <a:p>
            <a:r>
              <a:rPr lang="en-US" sz="1600" b="1" dirty="0"/>
              <a:t>File</a:t>
            </a:r>
            <a:r>
              <a:rPr lang="en-US" sz="1600" dirty="0"/>
              <a:t> – Provides file content as a message input into the flow.</a:t>
            </a:r>
          </a:p>
          <a:p>
            <a:r>
              <a:rPr lang="en-US" sz="1600" dirty="0"/>
              <a:t>​</a:t>
            </a:r>
          </a:p>
          <a:p>
            <a:r>
              <a:rPr lang="en-US" sz="1600" b="1" dirty="0" err="1"/>
              <a:t>SplitText</a:t>
            </a:r>
            <a:r>
              <a:rPr lang="en-US" sz="1600" dirty="0"/>
              <a:t> – Splits file or message content into chunks for downstream processing.</a:t>
            </a:r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665321" y="114619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 smtClean="0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Components used as Tools</a:t>
            </a:r>
            <a:endParaRPr lang="en-US" sz="2400" b="1" i="0" u="none" strike="noStrike" cap="none" dirty="0">
              <a:solidFill>
                <a:srgbClr val="000000"/>
              </a:solidFill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BB86949-7ED1-C43B-B1E3-5122BB67A596}"/>
              </a:ext>
            </a:extLst>
          </p:cNvPr>
          <p:cNvSpPr txBox="1"/>
          <p:nvPr/>
        </p:nvSpPr>
        <p:spPr>
          <a:xfrm>
            <a:off x="665321" y="2404195"/>
            <a:ext cx="88239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Python Interpreter Component</a:t>
            </a:r>
            <a:r>
              <a:rPr lang="en-US" sz="1600" dirty="0"/>
              <a:t> – Exposes a Python execution environment as a tool that the agent can </a:t>
            </a:r>
            <a:r>
              <a:rPr lang="en-US" sz="1600" dirty="0" smtClean="0"/>
              <a:t>call, used to calculate </a:t>
            </a:r>
            <a:r>
              <a:rPr lang="en-US" sz="1600" dirty="0" err="1" smtClean="0"/>
              <a:t>pdc_score</a:t>
            </a:r>
            <a:r>
              <a:rPr lang="en-US" sz="1600" dirty="0" smtClean="0"/>
              <a:t> as well as </a:t>
            </a:r>
            <a:r>
              <a:rPr lang="en-US" sz="1600" dirty="0" err="1" smtClean="0"/>
              <a:t>adherence_risk</a:t>
            </a:r>
            <a:r>
              <a:rPr lang="en-US" sz="1600" dirty="0" smtClean="0"/>
              <a:t> classification.</a:t>
            </a:r>
            <a:endParaRPr lang="en-US" sz="1600" dirty="0"/>
          </a:p>
          <a:p>
            <a:r>
              <a:rPr lang="en-US" sz="1600" b="1" dirty="0" smtClean="0"/>
              <a:t>​</a:t>
            </a:r>
            <a:r>
              <a:rPr lang="en-US" sz="1600" b="1" dirty="0" smtClean="0"/>
              <a:t>​</a:t>
            </a:r>
            <a:endParaRPr lang="en-US" sz="1600" b="1" dirty="0"/>
          </a:p>
          <a:p>
            <a:r>
              <a:rPr lang="en-US" sz="1600" b="1" dirty="0" smtClean="0"/>
              <a:t>Adherence Prediction Component </a:t>
            </a:r>
            <a:r>
              <a:rPr lang="en-US" sz="1600" dirty="0" smtClean="0"/>
              <a:t>– Used API Request component which will send HTTP request to the deployed ML model which predicts the </a:t>
            </a:r>
            <a:r>
              <a:rPr lang="en-US" sz="1600" dirty="0" err="1" smtClean="0"/>
              <a:t>adherence_status</a:t>
            </a:r>
            <a:r>
              <a:rPr lang="en-US" sz="1600" dirty="0" smtClean="0"/>
              <a:t> of Patient.</a:t>
            </a:r>
          </a:p>
          <a:p>
            <a:endParaRPr lang="en-US" sz="1600" dirty="0" smtClean="0"/>
          </a:p>
          <a:p>
            <a:r>
              <a:rPr lang="en-US" sz="1600" b="1" dirty="0" smtClean="0"/>
              <a:t>Mail Sending Component</a:t>
            </a:r>
            <a:r>
              <a:rPr lang="en-US" sz="1600" dirty="0" smtClean="0"/>
              <a:t>– </a:t>
            </a:r>
            <a:r>
              <a:rPr lang="en-US" sz="1600" dirty="0"/>
              <a:t>Used API Request component which will </a:t>
            </a:r>
            <a:r>
              <a:rPr lang="en-US" sz="1600" dirty="0" smtClean="0"/>
              <a:t>send mails for the patients with proper WHO guidelines message along with their risk level.</a:t>
            </a:r>
          </a:p>
          <a:p>
            <a:endParaRPr lang="en-US" sz="1600" dirty="0"/>
          </a:p>
          <a:p>
            <a:endParaRPr lang="en-US" sz="1600" dirty="0" smtClean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88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8079FEC-4447-C4FA-64A4-CB532564DAF6}"/>
              </a:ext>
            </a:extLst>
          </p:cNvPr>
          <p:cNvSpPr txBox="1"/>
          <p:nvPr/>
        </p:nvSpPr>
        <p:spPr>
          <a:xfrm>
            <a:off x="838779" y="200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1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5C8A8E3-6EB6-8E2F-8176-581A6A585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79" y="1073552"/>
            <a:ext cx="8997388" cy="474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B8C0E09A-1C60-C6C6-C0F0-198A5AF5B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0087FA1-2CB1-3205-92CD-9CC8EBD2C89B}"/>
              </a:ext>
            </a:extLst>
          </p:cNvPr>
          <p:cNvSpPr txBox="1"/>
          <p:nvPr/>
        </p:nvSpPr>
        <p:spPr>
          <a:xfrm>
            <a:off x="838779" y="200739"/>
            <a:ext cx="640697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File Uploading for vector Embeddings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D86E328-2321-B0A4-6F1D-CCB155176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C45D9D0-064E-FF4D-88BC-B3B3111AF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10228"/>
            <a:ext cx="9124710" cy="528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7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FE5FD7-2292-570F-1397-1E9287F8CB9D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2F59242-F74B-460E-408F-CDF943C07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760" y="882569"/>
            <a:ext cx="9020538" cy="509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5838F091-0014-6AB2-D2EE-81C735D1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F9D04B6-7646-B3BF-9A84-684A467FADAB}"/>
              </a:ext>
            </a:extLst>
          </p:cNvPr>
          <p:cNvSpPr txBox="1"/>
          <p:nvPr/>
        </p:nvSpPr>
        <p:spPr>
          <a:xfrm>
            <a:off x="1219779" y="200739"/>
            <a:ext cx="46222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F314CEB-36A0-2FF5-7F53-C10C910C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5067CD6-C384-CD62-481B-FEEE3B15E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779" y="876782"/>
            <a:ext cx="8569125" cy="510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841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C5EBB4-C181-831A-CBFF-DF0F9C98C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809" y="469298"/>
            <a:ext cx="10515600" cy="699745"/>
          </a:xfrm>
        </p:spPr>
        <p:txBody>
          <a:bodyPr>
            <a:normAutofit fontScale="90000"/>
          </a:bodyPr>
          <a:lstStyle/>
          <a:p>
            <a:r>
              <a:rPr lang="en-IN" dirty="0"/>
              <a:t>Core pillars of Innovation and Research Grounding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6551B772-ED74-9F79-951A-D0238115E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09" y="1455709"/>
            <a:ext cx="11038382" cy="5274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1. Group-Based Trajectory Modeling (GBTM) Logic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Science: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Grounded in the landmark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Nagin &amp; Odgers (2010)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Franklin (2013)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research.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Application: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Our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Risk Detection Agent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identifies transition points where a patient moves from "Consistently Adherent" to "Slow Decline" groups, allowing for intervention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before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dose is missed.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2. Mathematical Rigor: PDC &amp; MPR Metrics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6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Standardized Analysis: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Analysis Agent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uses the clinical standard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Proportion of Days Covered (PDC)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formula to provide quantitative validity to the adherence scores.</a:t>
            </a:r>
          </a:p>
          <a:p>
            <a:pPr lvl="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PDC = Total days medication was on hand / Total days in the period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3. Safety &amp; Ethics via Granite Guardian 3.0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Hallucination Protection: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Every generated email and advisory is passed through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Granite Guardian 3.0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ensure 100% "Answer Faithfulness" against the medical knowledge base.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Regulatory Compliance: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Built with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Privacy-by-Design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ensure patient health data is handled safely, following non-diagnostic, "assistive-only" healthcare standards.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4. Behavioral Science: Nudge Theory &amp; Habit Linking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Personalized Psychology: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Grounded in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Behavioral Tailoring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research,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Advisory Assistant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doesn't send generic alerts; it suggests "habit-linking" techniques (e.g., "Take your dose with your morning tea") proven to form long-term adherence.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5. Multi-Agent Orchestration Synergy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Beyond Linear RAG: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Unlike traditional RAG, our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Langflow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architecture uses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Agentic Reasoning 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ReACT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Prompting)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where agents collaboratively decide when to use specific tools (Calculators vs. Search vs. Email) to solve the patient's goal.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488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EAFA16CB-0A72-5AC5-69A0-ABF4A752B43F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SMS / WhatsApp notifications</a:t>
            </a:r>
          </a:p>
          <a:p>
            <a:pPr marL="342900" lvl="0" indent="-34290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Doctor &amp; caregiver alerts</a:t>
            </a:r>
          </a:p>
          <a:p>
            <a:pPr marL="342900" lvl="0" indent="-34290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reminder scheduling</a:t>
            </a:r>
          </a:p>
          <a:p>
            <a:pPr marL="342900" lvl="0" indent="-34290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hospital EMR systems</a:t>
            </a:r>
          </a:p>
          <a:p>
            <a:pPr marL="342900" lvl="0" indent="-34290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Feedback-based reminder optimization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15507A2F-9304-7475-5C74-2BAA93879CFE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github.com/sandeep5shetty/langflow-medication-agent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7BDA5ADF-C9A0-CA5D-844A-6AC3872A0D8C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AF5AFD00-74FD-B439-5973-23933ABD88EC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WHO — Adherence to Long‑Term Therapies: Evidence for Action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This is a foundational WHO report defining and explaining medication adherence and its global impact. WHO Adherence to Long‑Term Therapies: Evidence for Action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NICE Guideline CG76 — Medicines Adherence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UK clinical guideline on involving patients in decisions about medicines and supporting adherence. NICE Medicines Adherence Guideline CG76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NICE Surveillance Summary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Describes the continued relevance of the CG76 guideline and mentions digital tech/decision support. 2019 NICE Guideline Surveillance on Medication Adherence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1098</Words>
  <Application>Microsoft Office PowerPoint</Application>
  <PresentationFormat>Widescreen</PresentationFormat>
  <Paragraphs>159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Google Sans Text</vt:lpstr>
      <vt:lpstr>Times New Roman</vt:lpstr>
      <vt:lpstr>Office Theme</vt:lpstr>
      <vt:lpstr>Explainable Multi-Agent System for Early Detection of Medication Non-Adherence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Real-World Use Case Scenario </vt:lpstr>
      <vt:lpstr>PowerPoint Presentation</vt:lpstr>
      <vt:lpstr>Multi-Agent Workflow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Core pillars of Innovation and Research Grounding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admin</cp:lastModifiedBy>
  <cp:revision>121</cp:revision>
  <dcterms:created xsi:type="dcterms:W3CDTF">2025-07-08T05:06:56Z</dcterms:created>
  <dcterms:modified xsi:type="dcterms:W3CDTF">2026-01-28T07:42:01Z</dcterms:modified>
</cp:coreProperties>
</file>